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7315200" cy="137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0" b="1">
                <a:solidFill>
                  <a:srgbClr val="F8FAFC"/>
                </a:solidFill>
                <a:latin typeface="Segoe UI"/>
              </a:defRPr>
            </a:pPr>
            <a:r>
              <a:t>N3MO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6B6D4"/>
                </a:solidFill>
                <a:latin typeface="Segoe UI"/>
              </a:defRPr>
            </a:pPr>
            <a:r>
              <a:t>The Deterministic Code Intelligence Layer.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7315200" cy="137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t>The Problem: AI is Blind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3931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Segoe UI"/>
              </a:defRPr>
            </a:pPr>
            <a:r>
              <a:t>Hallucinations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Copilot writes bad code because it relies on probabilistic RAG instead of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560320"/>
            <a:ext cx="3931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8346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Segoe UI"/>
              </a:defRPr>
            </a:pPr>
            <a:r>
              <a:t>Slow PRs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Human reviewers cannot mentally map the blast radius across a 10,000-file monorepo.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560320"/>
            <a:ext cx="3931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28346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Segoe UI"/>
              </a:defRPr>
            </a:pPr>
            <a:r>
              <a:t>Security Risks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Banks and defense sectors cannot exfiltrate code to external APIs. They need certainty.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7315200" cy="137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t>The Solution: Deterministic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0"/>
              </a:spcAft>
              <a:defRPr sz="3800">
                <a:solidFill>
                  <a:srgbClr val="94A3B8"/>
                </a:solidFill>
                <a:latin typeface="Segoe UI"/>
              </a:defRPr>
            </a:pPr>
            <a:r>
              <a:t>■  0 LLMs. Pure structural AST graph analysis.</a:t>
            </a:r>
          </a:p>
          <a:p>
            <a:pPr>
              <a:spcAft>
                <a:spcPts val="3600"/>
              </a:spcAft>
              <a:defRPr sz="3800">
                <a:solidFill>
                  <a:srgbClr val="94A3B8"/>
                </a:solidFill>
                <a:latin typeface="Segoe UI"/>
              </a:defRPr>
            </a:pPr>
            <a:r>
              <a:t>■  0 API calls. 100% air-gapped security out of the box.</a:t>
            </a:r>
          </a:p>
          <a:p>
            <a:pPr>
              <a:spcAft>
                <a:spcPts val="3600"/>
              </a:spcAft>
              <a:defRPr sz="3800">
                <a:solidFill>
                  <a:srgbClr val="94A3B8"/>
                </a:solidFill>
                <a:latin typeface="Segoe UI"/>
              </a:defRPr>
            </a:pPr>
            <a:r>
              <a:t>■  0 code stored externally. Ultimate privacy for enterprises.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7315200" cy="137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t>The Proof: Enterprise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3931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Segoe UI"/>
              </a:defRPr>
            </a:pPr>
            <a:r>
              <a:t>36,000 Files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The massive TensorFlow monorepo indexed completely locally.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560320"/>
            <a:ext cx="3931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8346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Segoe UI"/>
              </a:defRPr>
            </a:pPr>
            <a:r>
              <a:t>14 Minutes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From zero to full graph extraction in under 15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560320"/>
            <a:ext cx="3931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28346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Segoe UI"/>
              </a:defRPr>
            </a:pPr>
            <a:r>
              <a:t>&lt; 200 ms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Sub-second query times across 480,000+ recursive call edges.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7315200" cy="137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t>Traction: Bottom-Up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0"/>
              </a:spcAft>
              <a:defRPr sz="3800">
                <a:solidFill>
                  <a:srgbClr val="94A3B8"/>
                </a:solidFill>
                <a:latin typeface="Segoe UI"/>
              </a:defRPr>
            </a:pPr>
            <a:r>
              <a:t>■  8,000+ PyPI Downloads.</a:t>
            </a:r>
          </a:p>
          <a:p>
            <a:pPr>
              <a:spcAft>
                <a:spcPts val="3600"/>
              </a:spcAft>
              <a:defRPr sz="3800">
                <a:solidFill>
                  <a:srgbClr val="94A3B8"/>
                </a:solidFill>
                <a:latin typeface="Segoe UI"/>
              </a:defRPr>
            </a:pPr>
            <a:r>
              <a:t>■  Adopted organically by developers to fix their daily PR workflows.</a:t>
            </a:r>
          </a:p>
          <a:p>
            <a:pPr>
              <a:spcAft>
                <a:spcPts val="3600"/>
              </a:spcAft>
              <a:defRPr sz="3800">
                <a:solidFill>
                  <a:srgbClr val="94A3B8"/>
                </a:solidFill>
                <a:latin typeface="Segoe UI"/>
              </a:defRPr>
            </a:pPr>
            <a:r>
              <a:t>■  Zero marketing spend. Pure product-led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7315200" cy="137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t>The Wedge: Pull Requests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3931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Segoe UI"/>
              </a:defRPr>
            </a:pPr>
            <a:r>
              <a:t>1. Open Source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OSS Maintainers use N3MO to map dependencies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560320"/>
            <a:ext cx="3931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8346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Segoe UI"/>
              </a:defRPr>
            </a:pPr>
            <a:r>
              <a:t>2. Team Adoption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Maintainers bring it to their corporate engineering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560320"/>
            <a:ext cx="39319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283464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Segoe UI"/>
              </a:defRPr>
            </a:pPr>
            <a:r>
              <a:t>3. Enterprise CI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Security teams mandate it for air-gapped CI/CD pipelines.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7315200" cy="137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t>The Ask: $500K Pre-Seed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0"/>
              </a:spcAft>
              <a:defRPr sz="3800">
                <a:solidFill>
                  <a:srgbClr val="94A3B8"/>
                </a:solidFill>
                <a:latin typeface="Segoe UI"/>
              </a:defRPr>
            </a:pPr>
            <a:r>
              <a:t>■  Solo technical founder: Raj Shekhar (Architect of N3MO).</a:t>
            </a:r>
          </a:p>
          <a:p>
            <a:pPr>
              <a:spcAft>
                <a:spcPts val="3600"/>
              </a:spcAft>
              <a:defRPr sz="3800">
                <a:solidFill>
                  <a:srgbClr val="94A3B8"/>
                </a:solidFill>
                <a:latin typeface="Segoe UI"/>
              </a:defRPr>
            </a:pPr>
            <a:r>
              <a:t>■  Goal: Secure first 5 enterprise pilots &amp; hire elite founding engineers.</a:t>
            </a:r>
          </a:p>
          <a:p>
            <a:pPr>
              <a:spcAft>
                <a:spcPts val="3600"/>
              </a:spcAft>
              <a:defRPr sz="3800">
                <a:solidFill>
                  <a:srgbClr val="94A3B8"/>
                </a:solidFill>
                <a:latin typeface="Segoe UI"/>
              </a:defRPr>
            </a:pPr>
            <a:r>
              <a:t>■  Mindset: Ultra-lean, obsessed with engineering, ramen-profitable.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